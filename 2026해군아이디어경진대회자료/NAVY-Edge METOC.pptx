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897" y="1133373"/>
            <a:ext cx="7596178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spc="-1" kern="0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NAVY-EDGE METOC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73897" y="2079194"/>
            <a:ext cx="759617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DIL 환경 대응형 함정 기반 분산 기상 AI 시스템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73897" y="2970712"/>
            <a:ext cx="662583" cy="260747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Shape 3"/>
          <p:cNvSpPr/>
          <p:nvPr/>
        </p:nvSpPr>
        <p:spPr>
          <a:xfrm>
            <a:off x="773897" y="2970712"/>
            <a:ext cx="28575" cy="260747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7" name="Text 4"/>
          <p:cNvSpPr/>
          <p:nvPr/>
        </p:nvSpPr>
        <p:spPr>
          <a:xfrm>
            <a:off x="773897" y="2970712"/>
            <a:ext cx="662583" cy="260747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Edge AI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515061" y="2970712"/>
            <a:ext cx="1141214" cy="260747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9" name="Shape 6"/>
          <p:cNvSpPr/>
          <p:nvPr/>
        </p:nvSpPr>
        <p:spPr>
          <a:xfrm>
            <a:off x="1515061" y="2970712"/>
            <a:ext cx="28575" cy="260747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0" name="Text 7"/>
          <p:cNvSpPr/>
          <p:nvPr/>
        </p:nvSpPr>
        <p:spPr>
          <a:xfrm>
            <a:off x="1515061" y="2970712"/>
            <a:ext cx="1141214" cy="260747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DIL Environment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34856" y="2970712"/>
            <a:ext cx="634008" cy="260747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2" name="Shape 9"/>
          <p:cNvSpPr/>
          <p:nvPr/>
        </p:nvSpPr>
        <p:spPr>
          <a:xfrm>
            <a:off x="2734856" y="2970712"/>
            <a:ext cx="28575" cy="260747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3" name="Text 10"/>
          <p:cNvSpPr/>
          <p:nvPr/>
        </p:nvSpPr>
        <p:spPr>
          <a:xfrm>
            <a:off x="2734856" y="2970712"/>
            <a:ext cx="634008" cy="260747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METOC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47445" y="2970712"/>
            <a:ext cx="1269802" cy="260747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5" name="Shape 12"/>
          <p:cNvSpPr/>
          <p:nvPr/>
        </p:nvSpPr>
        <p:spPr>
          <a:xfrm>
            <a:off x="3447445" y="2970712"/>
            <a:ext cx="28575" cy="260747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6" name="Text 13"/>
          <p:cNvSpPr/>
          <p:nvPr/>
        </p:nvSpPr>
        <p:spPr>
          <a:xfrm>
            <a:off x="3447445" y="2970712"/>
            <a:ext cx="1269802" cy="260747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Edge Weather Hub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3897" y="3660084"/>
            <a:ext cx="7596178" cy="35004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해군지능정보체계단 인공지능융합과 일병 도경호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기상은 단순한 환경 요소가 아니라, 전투 결과를 결정하는 핵심 변수다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266230"/>
            <a:ext cx="40719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유도무기 명중률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1569839"/>
            <a:ext cx="4071938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풍속 및 기압의 미세한 변화는 탄도 오차를 수십 미터까지 증가시켜 정밀 타격을 방해함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643438" y="1266230"/>
            <a:ext cx="40719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함재기 운용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43438" y="1569839"/>
            <a:ext cx="4071938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파고 3m 이상 시 함재기 이착함 불가 판단 기준 적용 등 기상 조건이 항공 작전의 절대적 기준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3020551"/>
            <a:ext cx="40719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대잠 탐지 성능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3324160"/>
            <a:ext cx="4071938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수온 약층(Thermocline)의 분포와 해상 상태가 소나의 탐지 거리와 음파 전파 경로를 결정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43438" y="3020551"/>
            <a:ext cx="40719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미사일 궤적 수정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43438" y="3324160"/>
            <a:ext cx="4071938" cy="385763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실시간 기상 데이터의 즉각적인 반영 없이는 동적인 전장 환경에서 정밀 타격 불가능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0" y="4474862"/>
            <a:ext cx="9144000" cy="6686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4474862"/>
            <a:ext cx="57150" cy="6686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468917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"현재 해군은 기상 정보를 공군 기상단 및 외부 수치예보 모델에 전적으로 의존하고 있다."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통신 의존 구조는 전시 환경에서 붕괴된다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266230"/>
            <a:ext cx="2571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28625" y="1716286"/>
            <a:ext cx="2571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DIL 환경</a:t>
            </a: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800" b="1" dirty="0">
                <a:solidFill>
                  <a:srgbClr val="8A9AA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Disconnected / Intermittent / Limited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2273498"/>
            <a:ext cx="2571750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전자전 공격 및 위성 통신 방해 시 기상 데이터 수신 불가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8625" y="2724950"/>
            <a:ext cx="2571750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우크라이나-러시아 전쟁 사례: 통신 차단 시 현장의 독자적 연산 능력이 승패를 결정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8625" y="2287786"/>
            <a:ext cx="431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428625" y="2739237"/>
            <a:ext cx="431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3286125" y="1266230"/>
            <a:ext cx="2571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3286125" y="1716286"/>
            <a:ext cx="2571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EMCON 상황</a:t>
            </a: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800" b="1" dirty="0">
                <a:solidFill>
                  <a:srgbClr val="8A9AA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방사 통제 (Emission Control)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86125" y="2273498"/>
            <a:ext cx="2571750" cy="18286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스텔스 유지를 위한 전파 방사 통제 상황 발생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86125" y="2542087"/>
            <a:ext cx="2571750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외부 데이터 수신 자체가 작전 보안에 치명적 위협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86125" y="2993538"/>
            <a:ext cx="2571750" cy="18286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은밀 작전 시 외부 통신은 곧 위치 노출을 의미함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286125" y="2287786"/>
            <a:ext cx="431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3286125" y="2556374"/>
            <a:ext cx="431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3286125" y="3007826"/>
            <a:ext cx="431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6143625" y="1266230"/>
            <a:ext cx="2571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6143625" y="1716286"/>
            <a:ext cx="2571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중앙 분석의 한계</a:t>
            </a: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800" b="1" dirty="0">
                <a:solidFill>
                  <a:srgbClr val="8A9AA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국지 기상 반영 불가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43625" y="2273498"/>
            <a:ext cx="2571750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중앙 집중형 시스템은 함정 현장의 미세 기상 변화를 즉각 반영 불가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143625" y="2724950"/>
            <a:ext cx="2571750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서해 조석 간만, 동해 급격한 저기압 등 전 지구 모델이 포착 못하는 국지 기상 다수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43625" y="3176401"/>
            <a:ext cx="2571750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육상 슈퍼컴퓨터보다 현장 센서 데이터가 더 정확함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0" y="4474862"/>
            <a:ext cx="9144000" cy="6686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4474862"/>
            <a:ext cx="57150" cy="6686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5" name="Text 22"/>
          <p:cNvSpPr/>
          <p:nvPr/>
        </p:nvSpPr>
        <p:spPr>
          <a:xfrm>
            <a:off x="6143625" y="2287786"/>
            <a:ext cx="431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26" name="Text 23"/>
          <p:cNvSpPr/>
          <p:nvPr/>
        </p:nvSpPr>
        <p:spPr>
          <a:xfrm>
            <a:off x="6143625" y="2739237"/>
            <a:ext cx="431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27" name="Text 24"/>
          <p:cNvSpPr/>
          <p:nvPr/>
        </p:nvSpPr>
        <p:spPr>
          <a:xfrm>
            <a:off x="6143625" y="3190689"/>
            <a:ext cx="431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428625" y="468917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"함정은 데이터 수신 단말기에 머물러 있다"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함정이 스스로 기상을 생산하고 판단하는 주체가 된다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478631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37630"/>
            <a:ext cx="28575" cy="478631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80505"/>
            <a:ext cx="2000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함정 내 센서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571750" y="1180505"/>
            <a:ext cx="2000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Navy-Edge 서버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0" y="1180505"/>
            <a:ext cx="2000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기상 모델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72250" y="1180505"/>
            <a:ext cx="2000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전술 의사결정 지원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464594" y="1160859"/>
            <a:ext cx="17145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64844" y="1160859"/>
            <a:ext cx="17145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65094" y="1160859"/>
            <a:ext cx="17145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8625" y="1923455"/>
            <a:ext cx="403621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함정 탑재 센서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8625" y="2207419"/>
            <a:ext cx="4036219" cy="365727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AWS, 레이더, 소나, 파고계 등 함정에 이미 탑재된 센서를 활용하여 실시간 원시 데이터를 수집함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679156" y="1923455"/>
            <a:ext cx="403621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Edge AI 엔진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79156" y="2207419"/>
            <a:ext cx="4036219" cy="365727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GNN(Graph Neural Network) 기반 국지 기상 모델을 자체 생성하고 실시간으로 기상을 예측함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8625" y="2908902"/>
            <a:ext cx="403621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72시간 독립 운용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8625" y="3192866"/>
            <a:ext cx="4036219" cy="365727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통신 단절 시에도 외부 데이터 없이 최대 72시간 동안 고해상도(격자 1km 미만) 예측 정보를 제공함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679156" y="2908902"/>
            <a:ext cx="403621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Local AI + Edge AI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79156" y="3182150"/>
            <a:ext cx="4036219" cy="365727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통신 연결 시에는 중앙 서버와 협력하고, 단절 시에는 독립적으로 작동하는 이중 생존 구조를 갖춤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0" y="4474862"/>
            <a:ext cx="9144000" cy="6686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4474862"/>
            <a:ext cx="57150" cy="6686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468917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"함정은 더 이상 데이터를 받는 존재가 아니라, 스스로 기상을 생산하는 엣지 허브다"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SURV-PATH: 함정 제원과 기상을 결합한 생존 확률 기반 경로 계산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66230"/>
            <a:ext cx="1335881" cy="33575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266230"/>
            <a:ext cx="28575" cy="33575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266230"/>
            <a:ext cx="1335881" cy="33575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개념 (Concept)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8625" y="1802011"/>
            <a:ext cx="5715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744861"/>
            <a:ext cx="2571750" cy="62429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단순 최단 경로(Shortest Path)가 아닌 </a:t>
            </a:r>
            <a:r>
              <a:rPr lang="en-US" sz="9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생존 확률 기반 경로</a:t>
            </a: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(Survival Probability Path)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8625" y="2569183"/>
            <a:ext cx="5715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2512033"/>
            <a:ext cx="257175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Dijkstra 기반 전술 동적 경로 탐색 알고리즘 적용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86125" y="1266230"/>
            <a:ext cx="1437680" cy="33575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2" name="Shape 9"/>
          <p:cNvSpPr/>
          <p:nvPr/>
        </p:nvSpPr>
        <p:spPr>
          <a:xfrm>
            <a:off x="3286125" y="1266230"/>
            <a:ext cx="28575" cy="33575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3" name="Text 10"/>
          <p:cNvSpPr/>
          <p:nvPr/>
        </p:nvSpPr>
        <p:spPr>
          <a:xfrm>
            <a:off x="3286125" y="1266230"/>
            <a:ext cx="1437680" cy="33575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입력 변수 (Input)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86125" y="1802011"/>
            <a:ext cx="5715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5" name="Text 12"/>
          <p:cNvSpPr/>
          <p:nvPr/>
        </p:nvSpPr>
        <p:spPr>
          <a:xfrm>
            <a:off x="3286125" y="1744861"/>
            <a:ext cx="25717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함정 톤수 / 복원성 / 유류 잔량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86125" y="2150604"/>
            <a:ext cx="5715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7" name="Text 14"/>
          <p:cNvSpPr/>
          <p:nvPr/>
        </p:nvSpPr>
        <p:spPr>
          <a:xfrm>
            <a:off x="3286125" y="2093454"/>
            <a:ext cx="25717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실시간 파고·풍속·기압 데이터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86125" y="2499196"/>
            <a:ext cx="5715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9" name="Text 16"/>
          <p:cNvSpPr/>
          <p:nvPr/>
        </p:nvSpPr>
        <p:spPr>
          <a:xfrm>
            <a:off x="3286125" y="2442046"/>
            <a:ext cx="257175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현재 위치에서 도달 가능한 정온 해역 또는 안전 항구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43625" y="1266230"/>
            <a:ext cx="1239441" cy="33575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1" name="Shape 18"/>
          <p:cNvSpPr/>
          <p:nvPr/>
        </p:nvSpPr>
        <p:spPr>
          <a:xfrm>
            <a:off x="6143625" y="1266230"/>
            <a:ext cx="28575" cy="33575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2" name="Text 19"/>
          <p:cNvSpPr/>
          <p:nvPr/>
        </p:nvSpPr>
        <p:spPr>
          <a:xfrm>
            <a:off x="6143625" y="1266230"/>
            <a:ext cx="1239441" cy="335756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출력 (Output)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43625" y="1802011"/>
            <a:ext cx="5715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4" name="Text 21"/>
          <p:cNvSpPr/>
          <p:nvPr/>
        </p:nvSpPr>
        <p:spPr>
          <a:xfrm>
            <a:off x="6143625" y="1744861"/>
            <a:ext cx="25717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전복 위험도 실시간 계산 반영 경로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43625" y="2150604"/>
            <a:ext cx="5715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6" name="Text 23"/>
          <p:cNvSpPr/>
          <p:nvPr/>
        </p:nvSpPr>
        <p:spPr>
          <a:xfrm>
            <a:off x="6143625" y="2093454"/>
            <a:ext cx="25717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함종별 맞춤형 최적 회피 경로 즉각 산출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143625" y="2499196"/>
            <a:ext cx="5715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8" name="Text 25"/>
          <p:cNvSpPr/>
          <p:nvPr/>
        </p:nvSpPr>
        <p:spPr>
          <a:xfrm>
            <a:off x="6143625" y="2442046"/>
            <a:ext cx="2571750" cy="20929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기상 악천후 시 함정 파손율 </a:t>
            </a:r>
            <a:r>
              <a:rPr lang="en-US" sz="9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30% 감소</a:t>
            </a: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목표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4474862"/>
            <a:ext cx="9144000" cy="6686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0" name="Shape 27"/>
          <p:cNvSpPr/>
          <p:nvPr/>
        </p:nvSpPr>
        <p:spPr>
          <a:xfrm>
            <a:off x="0" y="4474862"/>
            <a:ext cx="57150" cy="6686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1" name="Text 28"/>
          <p:cNvSpPr/>
          <p:nvPr/>
        </p:nvSpPr>
        <p:spPr>
          <a:xfrm>
            <a:off x="428625" y="468917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"동일한 파도라도 고속정과 구축함이 느끼는 위험도는 다르다"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GHOST-PATH: 기상을 피하는 것이 아니라, 기상을 이용해 숨는다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109067"/>
            <a:ext cx="4714875" cy="30360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1519833"/>
            <a:ext cx="4714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해무·강수·고파랑은 아군뿐만 아니라 적 레이더 및 광학 감시 체계에도 </a:t>
            </a:r>
            <a:r>
              <a:rPr lang="en-US" sz="9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치명적 사각지대</a:t>
            </a: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를 생성합니다. 기상 데이터 기반 적 탐지 확률 모델링으로 저탐지 구역을 식별</a:t>
            </a: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합니다.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8625" y="2351298"/>
            <a:ext cx="4714875" cy="30360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2762064"/>
            <a:ext cx="4714875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은폐 통로 지정: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해무 밀도 임계치 이상 구역을 분석하여 시각적 은폐가 가능한 통로를 실시간으로 지정합니다.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28625" y="3234947"/>
            <a:ext cx="4714875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사각지대 분석: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강수량 및 기상 조건에 따른 전파 감쇄율을 계산하여 적 레이더 및 광학 장비의 탐지 사각지대를 도출합니다.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28625" y="3707829"/>
            <a:ext cx="4714875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침투 경로 생성: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적 초계기 및 레이더망의 사각지대를 기상학적으로 분석하여 최적의 은밀 침투 경로를 자율 생성합니다.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28625" y="2776351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4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28625" y="3249234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4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28625" y="3722117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4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5429250" y="1109067"/>
            <a:ext cx="3286125" cy="336579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Shape 11"/>
          <p:cNvSpPr/>
          <p:nvPr/>
        </p:nvSpPr>
        <p:spPr>
          <a:xfrm>
            <a:off x="5429250" y="1109067"/>
            <a:ext cx="3286125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1489109"/>
            <a:ext cx="271462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TACTICAL IMPACT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715000" y="1958811"/>
            <a:ext cx="27146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40%</a:t>
            </a:r>
            <a:r>
              <a:rPr lang="en-US" sz="16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↑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5715000" y="2487448"/>
            <a:ext cx="2714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해무/강우 시 적 감시망 돌파 성공률 향상 목표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715000" y="3194679"/>
            <a:ext cx="2714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AUTONOMOUS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0" y="3494717"/>
            <a:ext cx="2714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DIL 환경에서 중앙 지시 없이 실시간 침투 경로 자율 생성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4474862"/>
            <a:ext cx="9144000" cy="6686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4474862"/>
            <a:ext cx="57150" cy="6686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468917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"기상을 장애물이 아닌 비대칭 전술 자산으로 역이용한다"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검증된 기술의 통합: 새로운 발명이 아닌 최적 조합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051917"/>
            <a:ext cx="8286750" cy="464344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051917"/>
            <a:ext cx="1381116" cy="464344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계층 (LAYER)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09741" y="1051917"/>
            <a:ext cx="3452803" cy="464344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적용 기술 (TECHNOLOGY)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262544" y="1051917"/>
            <a:ext cx="3452803" cy="464344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역할 (ROLE)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5" y="1516261"/>
            <a:ext cx="1381116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데이터 수집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09741" y="1516261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AWS, S/X-Band 레이더, 소나, 파고계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262544" y="1516261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함정 내 실시간 원시 데이터 수집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8625" y="1980605"/>
            <a:ext cx="1381116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모델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809741" y="1980605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FourCastNet / Pangu-Weather 기반 해군 특화 FNO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262544" y="1980605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고해상도 기상 예측 (격자 1km 미만)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8625" y="2444948"/>
            <a:ext cx="1381116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학습 프레임워크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809741" y="2444948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GNN, ST-Transformer, PINNs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62544" y="2444948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물리 법칙 결합을 통한 예측 정확도 향상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8625" y="2909292"/>
            <a:ext cx="1381116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의사결정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809741" y="2909292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Dueling DQN (D3QN), RL 에이전트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62544" y="2909292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실시간 전술 행동 정책 학습 및 최적 경로 산출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8625" y="3373636"/>
            <a:ext cx="1381116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인프라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809741" y="3373636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Docker / Kubernetes (컨테이너화)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62544" y="3373636"/>
            <a:ext cx="3452803" cy="457200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알고리즘 모듈화 및 장애 발생 시 즉각 복구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28625" y="3837980"/>
            <a:ext cx="1381116" cy="45005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연합학습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809741" y="3837980"/>
            <a:ext cx="3452803" cy="45005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Federated Learning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262544" y="3837980"/>
            <a:ext cx="3452803" cy="45005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통신 복구 시 보안을 유지하며 중앙 모델과 동기화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0" y="4474862"/>
            <a:ext cx="9144000" cy="6686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4474862"/>
            <a:ext cx="57150" cy="6686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8" name="Text 25"/>
          <p:cNvSpPr/>
          <p:nvPr/>
        </p:nvSpPr>
        <p:spPr>
          <a:xfrm>
            <a:off x="428625" y="468917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"KNTDS 연동 소프트웨어 구조로 기술적 구현 가능성 높음"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필요한 기술과 데이터는 이미 존재한다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280517"/>
            <a:ext cx="257175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하드웨어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8625" y="1693069"/>
            <a:ext cx="2571750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NVIDIA Jetson 및 고성능 서버급 엣지 GPU의 함정 탑재 가능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28625" y="2165952"/>
            <a:ext cx="2571750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하드웨어 제약 이미 해소 단계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8625" y="2455971"/>
            <a:ext cx="2571750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현장 즉시 연산을 위한 컴퓨팅 파워 확보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8625" y="1707356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28625" y="2180239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28625" y="2470259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286125" y="1280517"/>
            <a:ext cx="257175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모델 경량화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86125" y="1693069"/>
            <a:ext cx="2571750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FourCastNet, Pangu-Weather 등 고성능 기상 AI 모델 활용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86125" y="2165952"/>
            <a:ext cx="2571750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Knowledge Distillation 기법으로 함정용 경량 모델 변환 실용화 가능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86125" y="2638834"/>
            <a:ext cx="2571750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Transformer 기반 대형 모델을 함정 탑재 최적화 모델로 전환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286125" y="1707356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286125" y="2180239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3286125" y="2653122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143625" y="1280517"/>
            <a:ext cx="257175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데이터 확보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143625" y="1693069"/>
            <a:ext cx="2571750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국방기상종합정보체계(METIS) 과거 이력 데이터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43625" y="2165952"/>
            <a:ext cx="2571750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함정 탑재 AWS 실시간 관측값 및 해상 레이더(S/X-Band) 강수 감쇄 데이터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143625" y="2638834"/>
            <a:ext cx="2571750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GDAPS/RDAPS 수치 예보 모델 마지막 업데이트 세트 및 전술 데이터(ENC)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474862"/>
            <a:ext cx="9144000" cy="6686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4474862"/>
            <a:ext cx="57150" cy="6686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4" name="Text 21"/>
          <p:cNvSpPr/>
          <p:nvPr/>
        </p:nvSpPr>
        <p:spPr>
          <a:xfrm>
            <a:off x="6143625" y="1707356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143625" y="2180239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143625" y="2653122"/>
            <a:ext cx="85725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28625" y="468917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"새로운 기술 개발이 아니라, 기존 기술을 통합하는 문제다"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기상을 장애물이 아닌 전술 자산으로 전환한다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00075" y="1037630"/>
            <a:ext cx="386476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작전적 (OPERATIONAL)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0075" y="1341239"/>
            <a:ext cx="386476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통신 단절 시에도 72시간 이상 작전 지속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전천후 작전 능력 확보 및 정밀 타격 지원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850606" y="1037630"/>
            <a:ext cx="386476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생존성 (SURVIVABILITY)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50606" y="1341239"/>
            <a:ext cx="386476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기상 악천후 시 함정 파손율 30% 감소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최적 경로 항해를 통한 선체 피로도 감소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0075" y="1921278"/>
            <a:ext cx="386476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전술적 (TACTICAL)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0075" y="2224887"/>
            <a:ext cx="386476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적 감시망 돌파 성공률 40% 향상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기상을 비대칭 전술 자산으로 역이용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850606" y="1921278"/>
            <a:ext cx="386476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기술·경제적 (TECH &amp; ECON)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50606" y="2224887"/>
            <a:ext cx="386476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통신 비용 절감 및 K-방산 기술 경쟁력 강화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8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기반 시각화로 기상 분석 시간 50% 단축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28625" y="3117549"/>
            <a:ext cx="8286750" cy="1143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3117549"/>
            <a:ext cx="8286750" cy="14288"/>
          </a:xfrm>
          <a:prstGeom prst="rect">
            <a:avLst/>
          </a:prstGeom>
          <a:solidFill>
            <a:srgbClr val="8A9AAB"/>
          </a:solidFill>
          <a:ln/>
        </p:spPr>
      </p:sp>
      <p:sp>
        <p:nvSpPr>
          <p:cNvPr id="14" name="Text 11"/>
          <p:cNvSpPr/>
          <p:nvPr/>
        </p:nvSpPr>
        <p:spPr>
          <a:xfrm>
            <a:off x="607219" y="3310430"/>
            <a:ext cx="792956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Development Roadmap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7219" y="3677441"/>
            <a:ext cx="37361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45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현행 작전 목표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07219" y="3848891"/>
            <a:ext cx="37361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격자 1km 미만 고해상도 국지 기상 예측 및 72시간 독자 운용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486275" y="3724768"/>
            <a:ext cx="17145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8A9AA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▶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800600" y="3599752"/>
            <a:ext cx="37361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45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최종 목표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00600" y="3771202"/>
            <a:ext cx="373618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 해군 함정을 하나의 거대한 분산형 기상 관측 네트워크로 연결</a:t>
            </a:r>
            <a:r>
              <a:rPr lang="en-US" sz="8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8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(육상-해상-함정을 잇는 지능형 기상 지원 체계 완성)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0" y="4474862"/>
            <a:ext cx="9144000" cy="6686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4474862"/>
            <a:ext cx="57150" cy="6686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468917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"기상을 장애물이 아닌 전술 자산으로"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NAVY-EDGE METOC:</a:t>
            </a:r>
            <a:r>
              <a:rPr lang="en-US" sz="18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18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고립된 상황에서도 생존하고, 나아가 기습하는 함정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0" y="1254398"/>
            <a:ext cx="9144000" cy="335756"/>
          </a:xfrm>
          <a:prstGeom prst="rect">
            <a:avLst/>
          </a:prstGeom>
          <a:noFill/>
          <a:ln/>
        </p:spPr>
        <p:txBody>
          <a:bodyPr wrap="square" lIns="510286" tIns="170053" rIns="510286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NAVY-Edge METOC 시스템은 기상을 단순한 위험 요소가 아닌 </a:t>
            </a:r>
            <a:r>
              <a:rPr lang="en-US" sz="1000" b="1" dirty="0">
                <a:solidFill>
                  <a:srgbClr val="555555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전술 자산</a:t>
            </a:r>
            <a:r>
              <a:rPr lang="en-US" sz="1050" dirty="0">
                <a:solidFill>
                  <a:srgbClr val="5555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으로 전환합니다.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2047354"/>
            <a:ext cx="2571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01. 생존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2463478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DIL 환경에서도 72시간 독자 기상 예측으로 함정 생존성 보장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86125" y="2047354"/>
            <a:ext cx="2571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02. 기습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86125" y="2463478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Ghost-Path로 기상을 이용한 은밀 침투 능력 확보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43625" y="2047354"/>
            <a:ext cx="2571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5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03. 자립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43625" y="2463478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통신 없이도 작전 지속 가능한 분산형 지능 플랫폼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2874913"/>
            <a:ext cx="9144000" cy="112583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2874913"/>
            <a:ext cx="85725" cy="112583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3" name="Text 10"/>
          <p:cNvSpPr/>
          <p:nvPr/>
        </p:nvSpPr>
        <p:spPr>
          <a:xfrm>
            <a:off x="1723430" y="3232100"/>
            <a:ext cx="5697141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spc="-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"기상을 장애물이 아닌 전술 자산으로"</a:t>
            </a:r>
            <a:endParaRPr lang="en-US" sz="2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2026-04-29T14:13:41Z</dcterms:created>
  <dcterms:modified xsi:type="dcterms:W3CDTF">2026-04-29T14:13:41Z</dcterms:modified>
</cp:coreProperties>
</file>